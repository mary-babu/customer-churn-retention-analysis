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6.xml" ContentType="application/vnd.openxmlformats-officedocument.drawingml.chart+xml"/>
  <Override PartName="/ppt/notesSlides/notesSlide15.xml" ContentType="application/vnd.openxmlformats-officedocument.presentationml.notesSlide+xml"/>
  <Override PartName="/ppt/charts/chart7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3B54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73B54"/>
                </a:solidFill>
                <a:latin typeface="Calibri"/>
              </a:rPr>
              <a:t>Churn Rate by Contract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526-4F04-B82C-F0680E4C2FBE}"/>
              </c:ext>
            </c:extLst>
          </c:dPt>
          <c:dPt>
            <c:idx val="1"/>
            <c:invertIfNegative val="0"/>
            <c:bubble3D val="0"/>
            <c:spPr>
              <a:solidFill>
                <a:srgbClr val="5B8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526-4F04-B82C-F0680E4C2FBE}"/>
              </c:ext>
            </c:extLst>
          </c:dPt>
          <c:dPt>
            <c:idx val="2"/>
            <c:invertIfNegative val="0"/>
            <c:bubble3D val="0"/>
            <c:spPr>
              <a:solidFill>
                <a:srgbClr val="5B8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526-4F04-B82C-F0680E4C2FBE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25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42.7</c:v>
                </c:pt>
                <c:pt idx="1">
                  <c:v>11.3</c:v>
                </c:pt>
                <c:pt idx="2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526-4F04-B82C-F0680E4C2F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5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12700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3B54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73B54"/>
                </a:solidFill>
                <a:latin typeface="Calibri"/>
              </a:rPr>
              <a:t>Churn Rate by Customer Tenure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2530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0-6mo</c:v>
                </c:pt>
                <c:pt idx="1">
                  <c:v>7-12mo</c:v>
                </c:pt>
                <c:pt idx="2">
                  <c:v>13-24mo</c:v>
                </c:pt>
                <c:pt idx="3">
                  <c:v>25-48mo</c:v>
                </c:pt>
                <c:pt idx="4">
                  <c:v>49-72mo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52.9</c:v>
                </c:pt>
                <c:pt idx="1">
                  <c:v>35.9</c:v>
                </c:pt>
                <c:pt idx="2">
                  <c:v>28.7</c:v>
                </c:pt>
                <c:pt idx="3">
                  <c:v>20.399999999999999</c:v>
                </c:pt>
                <c:pt idx="4">
                  <c:v>9.5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41D-400F-B632-344AD5D4523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5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12700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3B54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73B54"/>
                </a:solidFill>
                <a:latin typeface="Calibri"/>
              </a:rPr>
              <a:t>Churn Rate by Payment Method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E64-4D26-95BE-9B73F8E5FDEE}"/>
              </c:ext>
            </c:extLst>
          </c:dPt>
          <c:dPt>
            <c:idx val="1"/>
            <c:invertIfNegative val="0"/>
            <c:bubble3D val="0"/>
            <c:spPr>
              <a:solidFill>
                <a:srgbClr val="5B8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E64-4D26-95BE-9B73F8E5FDEE}"/>
              </c:ext>
            </c:extLst>
          </c:dPt>
          <c:dPt>
            <c:idx val="2"/>
            <c:invertIfNegative val="0"/>
            <c:bubble3D val="0"/>
            <c:spPr>
              <a:solidFill>
                <a:srgbClr val="5B8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E64-4D26-95BE-9B73F8E5FDEE}"/>
              </c:ext>
            </c:extLst>
          </c:dPt>
          <c:dPt>
            <c:idx val="3"/>
            <c:invertIfNegative val="0"/>
            <c:bubble3D val="0"/>
            <c:spPr>
              <a:solidFill>
                <a:srgbClr val="5B8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E64-4D26-95BE-9B73F8E5FDEE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25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Electronic check</c:v>
                </c:pt>
                <c:pt idx="1">
                  <c:v>Mailed check</c:v>
                </c:pt>
                <c:pt idx="2">
                  <c:v>Bank transfer</c:v>
                </c:pt>
                <c:pt idx="3">
                  <c:v>Credit card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45.3</c:v>
                </c:pt>
                <c:pt idx="1">
                  <c:v>19.100000000000001</c:v>
                </c:pt>
                <c:pt idx="2">
                  <c:v>16.7</c:v>
                </c:pt>
                <c:pt idx="3">
                  <c:v>15.2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E64-4D26-95BE-9B73F8E5FD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5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</c:scaling>
        <c:delete val="0"/>
        <c:axPos val="b"/>
        <c:majorGridlines>
          <c:spPr>
            <a:ln w="12700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3B54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73B54"/>
                </a:solidFill>
                <a:latin typeface="Calibri"/>
              </a:rPr>
              <a:t>Churn Rate by Internet Service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FA1-4431-8A07-08BC00FA7D99}"/>
              </c:ext>
            </c:extLst>
          </c:dPt>
          <c:dPt>
            <c:idx val="1"/>
            <c:invertIfNegative val="0"/>
            <c:bubble3D val="0"/>
            <c:spPr>
              <a:solidFill>
                <a:srgbClr val="5B8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FA1-4431-8A07-08BC00FA7D99}"/>
              </c:ext>
            </c:extLst>
          </c:dPt>
          <c:dPt>
            <c:idx val="2"/>
            <c:invertIfNegative val="0"/>
            <c:bubble3D val="0"/>
            <c:spPr>
              <a:solidFill>
                <a:srgbClr val="5B8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FA1-4431-8A07-08BC00FA7D99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25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Fiber optic</c:v>
                </c:pt>
                <c:pt idx="1">
                  <c:v>DSL</c:v>
                </c:pt>
                <c:pt idx="2">
                  <c:v>No internet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41.9</c:v>
                </c:pt>
                <c:pt idx="1">
                  <c:v>19</c:v>
                </c:pt>
                <c:pt idx="2">
                  <c:v>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FA1-4431-8A07-08BC00FA7D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5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b"/>
        <c:majorGridlines>
          <c:spPr>
            <a:ln w="12700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3B54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73B54"/>
                </a:solidFill>
                <a:latin typeface="Calibri"/>
              </a:rPr>
              <a:t>Churn Rate as Risk Factors Stack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5B84A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D7C-4689-BF3B-BD70A00A527A}"/>
              </c:ext>
            </c:extLst>
          </c:dPt>
          <c:dPt>
            <c:idx val="1"/>
            <c:invertIfNegative val="0"/>
            <c:bubble3D val="0"/>
            <c:spPr>
              <a:solidFill>
                <a:srgbClr val="D983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D7C-4689-BF3B-BD70A00A527A}"/>
              </c:ext>
            </c:extLst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D7C-4689-BF3B-BD70A00A527A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5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All customers
(baseline)</c:v>
                </c:pt>
                <c:pt idx="1">
                  <c:v>+ Month-to-month
+ Fiber optic</c:v>
                </c:pt>
                <c:pt idx="2">
                  <c:v>+ No tech
support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26.5</c:v>
                </c:pt>
                <c:pt idx="1">
                  <c:v>54.6</c:v>
                </c:pt>
                <c:pt idx="2">
                  <c:v>57.5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D7C-4689-BF3B-BD70A00A52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25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"/>
        </c:scaling>
        <c:delete val="0"/>
        <c:axPos val="l"/>
        <c:majorGridlines>
          <c:spPr>
            <a:ln w="12700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3B54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73B54"/>
                </a:solidFill>
                <a:latin typeface="Calibri"/>
              </a:rPr>
              <a:t>Metric Comparison Across Models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173B54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ROC-AUC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0.80600000000000005</c:v>
                </c:pt>
                <c:pt idx="1">
                  <c:v>0.65700000000000003</c:v>
                </c:pt>
                <c:pt idx="2">
                  <c:v>0.55900000000000005</c:v>
                </c:pt>
                <c:pt idx="3">
                  <c:v>0.60399999999999998</c:v>
                </c:pt>
                <c:pt idx="4">
                  <c:v>0.84199999999999997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5F-4342-846A-C591A7C115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5B84A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ROC-AUC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0.80600000000000005</c:v>
                </c:pt>
                <c:pt idx="1">
                  <c:v>0.68100000000000005</c:v>
                </c:pt>
                <c:pt idx="2">
                  <c:v>0.503</c:v>
                </c:pt>
                <c:pt idx="3">
                  <c:v>0.57799999999999996</c:v>
                </c:pt>
                <c:pt idx="4">
                  <c:v>0.84199999999999997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B5F-4342-846A-C591A7C115D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ROC-AUC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0.752</c:v>
                </c:pt>
                <c:pt idx="1">
                  <c:v>0.52300000000000002</c:v>
                </c:pt>
                <c:pt idx="2">
                  <c:v>0.754</c:v>
                </c:pt>
                <c:pt idx="3">
                  <c:v>0.61799999999999999</c:v>
                </c:pt>
                <c:pt idx="4">
                  <c:v>0.83399999999999996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B5F-4342-846A-C591A7C115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25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A253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73B54"/>
                </a:solidFill>
                <a:latin typeface="Calibri"/>
              </a:defRPr>
            </a:pPr>
            <a:r>
              <a:rPr lang="en-US" sz="1250" b="0" i="0" u="none" strike="noStrike">
                <a:solidFill>
                  <a:srgbClr val="173B54"/>
                </a:solidFill>
                <a:latin typeface="Calibri"/>
              </a:rPr>
              <a:t>Top Features (Logistic Regression coefficient magnitude)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5B84A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156-4EC1-9915-CD52E3BF5CC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156-4EC1-9915-CD52E3BF5CC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156-4EC1-9915-CD52E3BF5CCC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156-4EC1-9915-CD52E3BF5CCC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8156-4EC1-9915-CD52E3BF5CCC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8156-4EC1-9915-CD52E3BF5CCC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8156-4EC1-9915-CD52E3BF5CCC}"/>
              </c:ext>
            </c:extLst>
          </c:dPt>
          <c:dPt>
            <c:idx val="7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8156-4EC1-9915-CD52E3BF5CCC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5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Paperless Billing (No)</c:v>
                </c:pt>
                <c:pt idx="1">
                  <c:v>Total Charges</c:v>
                </c:pt>
                <c:pt idx="2">
                  <c:v>Month-to-Month Contract</c:v>
                </c:pt>
                <c:pt idx="3">
                  <c:v>Monthly Charges</c:v>
                </c:pt>
                <c:pt idx="4">
                  <c:v>Fiber Optic Internet</c:v>
                </c:pt>
                <c:pt idx="5">
                  <c:v>DSL Internet</c:v>
                </c:pt>
                <c:pt idx="6">
                  <c:v>Two-Year Contract</c:v>
                </c:pt>
                <c:pt idx="7">
                  <c:v>Tenure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0.34</c:v>
                </c:pt>
                <c:pt idx="1">
                  <c:v>0.54</c:v>
                </c:pt>
                <c:pt idx="2">
                  <c:v>0.57999999999999996</c:v>
                </c:pt>
                <c:pt idx="3">
                  <c:v>0.59</c:v>
                </c:pt>
                <c:pt idx="4">
                  <c:v>0.63</c:v>
                </c:pt>
                <c:pt idx="5">
                  <c:v>0.65</c:v>
                </c:pt>
                <c:pt idx="6">
                  <c:v>0.78</c:v>
                </c:pt>
                <c:pt idx="7">
                  <c:v>1.26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8156-4EC1-9915-CD52E3BF5C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25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119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3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1F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2011680" y="4754880"/>
            <a:ext cx="4114800" cy="4114800"/>
          </a:xfrm>
          <a:prstGeom prst="ellipse">
            <a:avLst/>
          </a:prstGeom>
          <a:solidFill>
            <a:srgbClr val="1F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&amp; RETENTION ANALYSIS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Are Customers Leaving?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26.5% churn rate tells you customers are leaving. It doesn't tell you why.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201168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root-cause analysis, revenue impact, and a classification model comparison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IBM Telco Customer Churn dataset.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 Babu  |  Data &amp; Business Analyst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Case Study Is Headed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EDF1F4"/>
          </a:solidFill>
          <a:ln/>
          <a:effectLst>
            <a:outerShdw blurRad="76200" dist="25400" dir="5400000" algn="bl" rotWithShape="0">
              <a:srgbClr val="94A3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508760" y="1856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26.5% customer churn rate exists, but there's no visibility into which customers are at risk or why they leave.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EDF1F4"/>
          </a:solidFill>
          <a:ln/>
          <a:effectLst>
            <a:outerShdw blurRad="76200" dist="25400" dir="5400000" algn="bl" rotWithShape="0">
              <a:srgbClr val="94A3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37960" y="1874520"/>
            <a:ext cx="502920" cy="502920"/>
          </a:xfrm>
          <a:prstGeom prst="ellipse">
            <a:avLst/>
          </a:prstGeom>
          <a:solidFill>
            <a:srgbClr val="5B8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223760" y="1856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B8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5146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compounds across three factors: short tenure, month-to-month contracts, and no tech support. It is not one single cause.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EDF1F4"/>
          </a:solidFill>
          <a:ln/>
          <a:effectLst>
            <a:outerShdw blurRad="76200" dist="25400" dir="5400000" algn="bl" rotWithShape="0">
              <a:srgbClr val="94A3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4251960"/>
            <a:ext cx="502920" cy="502920"/>
          </a:xfrm>
          <a:prstGeom prst="ellipse">
            <a:avLst/>
          </a:prstGeom>
          <a:solidFill>
            <a:srgbClr val="173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1508760" y="42336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the customer base, isolate the highest-risk combination, quantify revenue at stake, then validate with a classification model.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EDF1F4"/>
          </a:solidFill>
          <a:ln/>
          <a:effectLst>
            <a:outerShdw blurRad="76200" dist="25400" dir="5400000" algn="bl" rotWithShape="0">
              <a:srgbClr val="94A3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37960" y="4251960"/>
            <a:ext cx="502920" cy="502920"/>
          </a:xfrm>
          <a:prstGeom prst="ellipse">
            <a:avLst/>
          </a:prstGeom>
          <a:solidFill>
            <a:srgbClr val="1F8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3796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7223760" y="42336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Value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37960" y="48920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prioritized, evidence-based retention shortlist, instead of a flat offer applied evenly across the entire customer base.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Analysis Is Structured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through this problem the way an analyst would: calculate the headline number, segment it, find the root cause, quantify what's at stake, then check whether a model adds anything beyond the segmentation.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44240" cy="1051560"/>
          </a:xfrm>
          <a:prstGeom prst="roundRect">
            <a:avLst>
              <a:gd name="adj" fmla="val 6087"/>
            </a:avLst>
          </a:prstGeom>
          <a:solidFill>
            <a:srgbClr val="173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258568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what would break the analysis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50080" y="2148840"/>
            <a:ext cx="3444240" cy="1051560"/>
          </a:xfrm>
          <a:prstGeom prst="roundRect">
            <a:avLst>
              <a:gd name="adj" fmla="val 6087"/>
            </a:avLst>
          </a:prstGeom>
          <a:solidFill>
            <a:srgbClr val="173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32960" y="2258568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32960" y="2651760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churn concentrates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351520" y="2148840"/>
            <a:ext cx="3444240" cy="1051560"/>
          </a:xfrm>
          <a:prstGeom prst="roundRect">
            <a:avLst>
              <a:gd name="adj" fmla="val 6087"/>
            </a:avLst>
          </a:prstGeom>
          <a:solidFill>
            <a:srgbClr val="173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34400" y="2258568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34400" y="2651760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risk factors compound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3444240" cy="1051560"/>
          </a:xfrm>
          <a:prstGeom prst="roundRect">
            <a:avLst>
              <a:gd name="adj" fmla="val 6087"/>
            </a:avLst>
          </a:prstGeom>
          <a:solidFill>
            <a:srgbClr val="173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630168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Impact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actually at stake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50080" y="3520440"/>
            <a:ext cx="3444240" cy="1051560"/>
          </a:xfrm>
          <a:prstGeom prst="roundRect">
            <a:avLst>
              <a:gd name="adj" fmla="val 6087"/>
            </a:avLst>
          </a:prstGeom>
          <a:solidFill>
            <a:srgbClr val="173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32960" y="3630168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Alternatives Considered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32960" y="4023360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approach, not another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351520" y="3520440"/>
            <a:ext cx="3444240" cy="1051560"/>
          </a:xfrm>
          <a:prstGeom prst="roundRect">
            <a:avLst>
              <a:gd name="adj" fmla="val 6087"/>
            </a:avLst>
          </a:prstGeom>
          <a:solidFill>
            <a:srgbClr val="173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34400" y="3630168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34400" y="4023360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prediction beat segmentation alone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892040"/>
            <a:ext cx="3444240" cy="1051560"/>
          </a:xfrm>
          <a:prstGeom prst="roundRect">
            <a:avLst>
              <a:gd name="adj" fmla="val 6087"/>
            </a:avLst>
          </a:prstGeom>
          <a:solidFill>
            <a:srgbClr val="173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5001768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5394960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prioritized, specific shortlist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50080" y="4892040"/>
            <a:ext cx="3444240" cy="1051560"/>
          </a:xfrm>
          <a:prstGeom prst="roundRect">
            <a:avLst>
              <a:gd name="adj" fmla="val 6087"/>
            </a:avLst>
          </a:prstGeom>
          <a:solidFill>
            <a:srgbClr val="173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32960" y="5001768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vs Future State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32960" y="5394960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if this ships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351520" y="4892040"/>
            <a:ext cx="3444240" cy="1051560"/>
          </a:xfrm>
          <a:prstGeom prst="roundRect">
            <a:avLst>
              <a:gd name="adj" fmla="val 6087"/>
            </a:avLst>
          </a:prstGeom>
          <a:solidFill>
            <a:srgbClr val="173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534400" y="5001768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34400" y="5394960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3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Losing A Quarter Of The Customer Base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F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54864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(1,869 of 7,043 customers)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F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0" y="2240280"/>
            <a:ext cx="54864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20440" y="2377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52.9%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611880" y="34290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in a customer's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6 months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F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92240" y="2240280"/>
            <a:ext cx="54864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2377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$139,131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46520" y="34290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lost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churned customers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19202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F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326880" y="2240280"/>
            <a:ext cx="54864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89720" y="2377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281160" y="34290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sit in the single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highest-risk segment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486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isn't that the business lacks data on churned customers, it's that no one has connected the dots on why they left, or which current customers look the same way.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The Boundaries Of This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practice case study on a public dataset, and being explicit about what it covers keeps it honest about what it doesn't.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ED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394960" cy="502920"/>
          </a:xfrm>
          <a:prstGeom prst="rect">
            <a:avLst/>
          </a:prstGeom>
          <a:solidFill>
            <a:srgbClr val="1F8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788920"/>
            <a:ext cx="256032" cy="256032"/>
          </a:xfrm>
          <a:prstGeom prst="ellipse">
            <a:avLst/>
          </a:prstGeom>
          <a:solidFill>
            <a:srgbClr val="1F8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28" dirty="0"/>
          </a:p>
        </p:txBody>
      </p:sp>
      <p:sp>
        <p:nvSpPr>
          <p:cNvPr id="10" name="Text 8"/>
          <p:cNvSpPr/>
          <p:nvPr/>
        </p:nvSpPr>
        <p:spPr>
          <a:xfrm>
            <a:off x="1234440" y="27340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&amp; segmentation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319272"/>
            <a:ext cx="256032" cy="256032"/>
          </a:xfrm>
          <a:prstGeom prst="ellipse">
            <a:avLst/>
          </a:prstGeom>
          <a:solidFill>
            <a:srgbClr val="1F8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319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28" dirty="0"/>
          </a:p>
        </p:txBody>
      </p:sp>
      <p:sp>
        <p:nvSpPr>
          <p:cNvPr id="13" name="Text 11"/>
          <p:cNvSpPr/>
          <p:nvPr/>
        </p:nvSpPr>
        <p:spPr>
          <a:xfrm>
            <a:off x="1234440" y="32644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 and fixes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3849624"/>
            <a:ext cx="256032" cy="256032"/>
          </a:xfrm>
          <a:prstGeom prst="ellipse">
            <a:avLst/>
          </a:prstGeom>
          <a:solidFill>
            <a:srgbClr val="1F8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849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28" dirty="0"/>
          </a:p>
        </p:txBody>
      </p:sp>
      <p:sp>
        <p:nvSpPr>
          <p:cNvPr id="16" name="Text 14"/>
          <p:cNvSpPr/>
          <p:nvPr/>
        </p:nvSpPr>
        <p:spPr>
          <a:xfrm>
            <a:off x="1234440" y="37947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/ compounding-risk analysis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4379976"/>
            <a:ext cx="256032" cy="256032"/>
          </a:xfrm>
          <a:prstGeom prst="ellipse">
            <a:avLst/>
          </a:prstGeom>
          <a:solidFill>
            <a:srgbClr val="1F8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4379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28" dirty="0"/>
          </a:p>
        </p:txBody>
      </p:sp>
      <p:sp>
        <p:nvSpPr>
          <p:cNvPr id="19" name="Text 17"/>
          <p:cNvSpPr/>
          <p:nvPr/>
        </p:nvSpPr>
        <p:spPr>
          <a:xfrm>
            <a:off x="1234440" y="432511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exposure quantification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4910328"/>
            <a:ext cx="256032" cy="256032"/>
          </a:xfrm>
          <a:prstGeom prst="ellipse">
            <a:avLst/>
          </a:prstGeom>
          <a:solidFill>
            <a:srgbClr val="1F8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4910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28" dirty="0"/>
          </a:p>
        </p:txBody>
      </p:sp>
      <p:sp>
        <p:nvSpPr>
          <p:cNvPr id="22" name="Text 20"/>
          <p:cNvSpPr/>
          <p:nvPr/>
        </p:nvSpPr>
        <p:spPr>
          <a:xfrm>
            <a:off x="1234440" y="485546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+ 3 classification models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5440680"/>
            <a:ext cx="256032" cy="256032"/>
          </a:xfrm>
          <a:prstGeom prst="ellipse">
            <a:avLst/>
          </a:prstGeom>
          <a:solidFill>
            <a:srgbClr val="1F8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5440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28" dirty="0"/>
          </a:p>
        </p:txBody>
      </p:sp>
      <p:sp>
        <p:nvSpPr>
          <p:cNvPr id="25" name="Text 23"/>
          <p:cNvSpPr/>
          <p:nvPr/>
        </p:nvSpPr>
        <p:spPr>
          <a:xfrm>
            <a:off x="1234440" y="53858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model validation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63640" y="210312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ED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63640" y="2103120"/>
            <a:ext cx="5394960" cy="5029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63640" y="21031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37960" y="2788920"/>
            <a:ext cx="256032" cy="25603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37960" y="2788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728" dirty="0"/>
          </a:p>
        </p:txBody>
      </p:sp>
      <p:sp>
        <p:nvSpPr>
          <p:cNvPr id="31" name="Text 29"/>
          <p:cNvSpPr/>
          <p:nvPr/>
        </p:nvSpPr>
        <p:spPr>
          <a:xfrm>
            <a:off x="6949440" y="27340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production deployment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37960" y="3319272"/>
            <a:ext cx="256032" cy="25603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37960" y="3319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728" dirty="0"/>
          </a:p>
        </p:txBody>
      </p:sp>
      <p:sp>
        <p:nvSpPr>
          <p:cNvPr id="34" name="Text 32"/>
          <p:cNvSpPr/>
          <p:nvPr/>
        </p:nvSpPr>
        <p:spPr>
          <a:xfrm>
            <a:off x="6949440" y="32644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scoring pipeline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537960" y="3849624"/>
            <a:ext cx="256032" cy="25603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37960" y="3849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728" dirty="0"/>
          </a:p>
        </p:txBody>
      </p:sp>
      <p:sp>
        <p:nvSpPr>
          <p:cNvPr id="37" name="Text 35"/>
          <p:cNvSpPr/>
          <p:nvPr/>
        </p:nvSpPr>
        <p:spPr>
          <a:xfrm>
            <a:off x="6949440" y="37947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of actual retention offers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537960" y="4379976"/>
            <a:ext cx="256032" cy="25603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37960" y="4379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728" dirty="0"/>
          </a:p>
        </p:txBody>
      </p:sp>
      <p:sp>
        <p:nvSpPr>
          <p:cNvPr id="40" name="Text 38"/>
          <p:cNvSpPr/>
          <p:nvPr/>
        </p:nvSpPr>
        <p:spPr>
          <a:xfrm>
            <a:off x="6949440" y="432511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 modeling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537960" y="4910328"/>
            <a:ext cx="256032" cy="25603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37960" y="4910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728" dirty="0"/>
          </a:p>
        </p:txBody>
      </p:sp>
      <p:sp>
        <p:nvSpPr>
          <p:cNvPr id="43" name="Text 41"/>
          <p:cNvSpPr/>
          <p:nvPr/>
        </p:nvSpPr>
        <p:spPr>
          <a:xfrm>
            <a:off x="6949440" y="485546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/ time-to-churn modeling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537960" y="5440680"/>
            <a:ext cx="256032" cy="25603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537960" y="5440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728" dirty="0"/>
          </a:p>
        </p:txBody>
      </p:sp>
      <p:sp>
        <p:nvSpPr>
          <p:cNvPr id="46" name="Text 44"/>
          <p:cNvSpPr/>
          <p:nvPr/>
        </p:nvSpPr>
        <p:spPr>
          <a:xfrm>
            <a:off x="6949440" y="53858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dashboard (proposed as future work)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 Customers, One Data Quality Catch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D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Telco Customer Churn</a:t>
            </a: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7,043 residential customers, one row per customer.
</a:t>
            </a: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info: </a:t>
            </a: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tenure, contract type, payment method, billing
</a:t>
            </a: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 </a:t>
            </a: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type, tech support, security, streaming
</a:t>
            </a: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customer churned (Yes/No)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4251960"/>
            <a:ext cx="4846320" cy="0"/>
          </a:xfrm>
          <a:prstGeom prst="line">
            <a:avLst/>
          </a:prstGeom>
          <a:noFill/>
          <a:ln w="12700">
            <a:solidFill>
              <a:srgbClr val="C7D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columns  ·  0 pandas-detected nulls  ·  no duplicate customer IDs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4983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"0 nulls" doesn't mean clean: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5349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 was stored as text, not a number.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37960" y="1810512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3796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catch: 11 hidden blank values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2377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customers had a non-numeric TotalCharges (blank text, not 0). Left as text, it would have silently broken every downstream numeric calculation and model.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3520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happened: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38404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have tenure = 0, brand-new customers who hadn't completed a billing cycle yet. Not corrupted data, a real customer state.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4709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5029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to numeric, filled with 0. A customer with 0 completed billing cycles has legitimately paid $0 so far, and none of the 11 churned, so this had no effect on the churn numbers themselves.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Steps, In This Order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ED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93876" y="2331720"/>
            <a:ext cx="594360" cy="594360"/>
          </a:xfrm>
          <a:prstGeom prst="ellipse">
            <a:avLst/>
          </a:prstGeom>
          <a:solidFill>
            <a:srgbClr val="5B8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93876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90" dirty="0"/>
          </a:p>
        </p:txBody>
      </p:sp>
      <p:sp>
        <p:nvSpPr>
          <p:cNvPr id="7" name="Text 5"/>
          <p:cNvSpPr/>
          <p:nvPr/>
        </p:nvSpPr>
        <p:spPr>
          <a:xfrm>
            <a:off x="685800" y="315468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 the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number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" y="402336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rate: the number leadership would see on a dashboard.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33472" y="338328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84A6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70632" y="210312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ED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15868" y="2331720"/>
            <a:ext cx="594360" cy="594360"/>
          </a:xfrm>
          <a:prstGeom prst="ellipse">
            <a:avLst/>
          </a:prstGeom>
          <a:solidFill>
            <a:srgbClr val="5B8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15868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90" dirty="0"/>
          </a:p>
        </p:txBody>
      </p:sp>
      <p:sp>
        <p:nvSpPr>
          <p:cNvPr id="13" name="Text 11"/>
          <p:cNvSpPr/>
          <p:nvPr/>
        </p:nvSpPr>
        <p:spPr>
          <a:xfrm>
            <a:off x="2907792" y="315468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it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35224" y="402336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churn down by contract, tenure, payment method, and services.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55464" y="338328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84A6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92624" y="210312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ED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37860" y="2331720"/>
            <a:ext cx="594360" cy="594360"/>
          </a:xfrm>
          <a:prstGeom prst="ellipse">
            <a:avLst/>
          </a:prstGeom>
          <a:solidFill>
            <a:srgbClr val="5B8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3786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90" dirty="0"/>
          </a:p>
        </p:txBody>
      </p:sp>
      <p:sp>
        <p:nvSpPr>
          <p:cNvPr id="19" name="Text 17"/>
          <p:cNvSpPr/>
          <p:nvPr/>
        </p:nvSpPr>
        <p:spPr>
          <a:xfrm>
            <a:off x="5129784" y="315468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157216" y="402336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risk factors on the same customer to see where churn compounds.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77456" y="338328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84A6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14616" y="210312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ED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59852" y="2331720"/>
            <a:ext cx="594360" cy="594360"/>
          </a:xfrm>
          <a:prstGeom prst="ellipse">
            <a:avLst/>
          </a:prstGeom>
          <a:solidFill>
            <a:srgbClr val="5B8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959852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90" dirty="0"/>
          </a:p>
        </p:txBody>
      </p:sp>
      <p:sp>
        <p:nvSpPr>
          <p:cNvPr id="25" name="Text 23"/>
          <p:cNvSpPr/>
          <p:nvPr/>
        </p:nvSpPr>
        <p:spPr>
          <a:xfrm>
            <a:off x="7351776" y="315468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 what's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stake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379208" y="402336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lost, and whether high-value customers are actually safer.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299448" y="338328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84A6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436608" y="210312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173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181844" y="2331720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181844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90" dirty="0"/>
          </a:p>
        </p:txBody>
      </p:sp>
      <p:sp>
        <p:nvSpPr>
          <p:cNvPr id="31" name="Text 29"/>
          <p:cNvSpPr/>
          <p:nvPr/>
        </p:nvSpPr>
        <p:spPr>
          <a:xfrm>
            <a:off x="9573768" y="315468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validate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601200" y="402336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D8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prediction adds ranking power beyond the segments.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5897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is only worth building if it beats what the segmentation already shows. That's tested explicitly in step 5, not assumed.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Type &amp; Tenure Drive Churn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554480"/>
          <a:ext cx="53949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263640" y="1554480"/>
          <a:ext cx="53949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126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15x more than two-year customers. Churn is also heavily front-loaded, and the first 6 months are the highest-risk window.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Method &amp; Service Type Matter Too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554480"/>
          <a:ext cx="53949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263640" y="1554480"/>
          <a:ext cx="53949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126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payers churn nearly 3x more than automatic payment methods. Fiber optic, the premium, higher-revenue service, churns more than double DSL. Tech support and online security show the same 3x pattern (not charted here, same direction).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Risk Factors Compound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60350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50876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178040" y="173736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1780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8" name="Text 5"/>
          <p:cNvSpPr/>
          <p:nvPr/>
        </p:nvSpPr>
        <p:spPr>
          <a:xfrm>
            <a:off x="7818120" y="173736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compounding-risk segment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178040" y="246888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7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1,796 customers </a:t>
            </a: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(~25% of the entire base) are </a:t>
            </a: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+ fiber optic + no tech support. </a:t>
            </a: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churn at </a:t>
            </a: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57.5%</a:t>
            </a: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more than double the baseline.
</a:t>
            </a:r>
            <a:r>
              <a:rPr lang="en-US" sz="1250" i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"low-engagement customers churn more" in the abstract. It's a specific, addressable combination, large enough to matter, not a rounding error.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3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Actually At Stake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1F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54864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$139,131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lost to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1F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0" y="2240280"/>
            <a:ext cx="54864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20440" y="2377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30.5%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611880" y="33375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total monthly revenue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churned customers represent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1F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92240" y="2240280"/>
            <a:ext cx="54864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2377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$1.67M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446520" y="33375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revenue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from churn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52560" y="192024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1F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326880" y="2240280"/>
            <a:ext cx="54864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89720" y="2377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32.75%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281160" y="33375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among the top-spending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of customers, above baseline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166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highest-value customers are not the safest ones. A flat, one-size-fits-all retention offer spends equally on customers worth saving and customers who were never going to stay.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CONSIDERED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Approach, Not Another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ED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7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a model at all, when the segmentation already tells a strong story? </a:t>
            </a: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 retention team needs to rank individual customers, not just broad segments. A model is only worth it if it beats what segmentation already shows.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2286000" cy="365760"/>
          </a:xfrm>
          <a:prstGeom prst="rect">
            <a:avLst/>
          </a:prstGeom>
          <a:solidFill>
            <a:srgbClr val="173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25146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2514600"/>
            <a:ext cx="3383280" cy="365760"/>
          </a:xfrm>
          <a:prstGeom prst="rect">
            <a:avLst/>
          </a:prstGeom>
          <a:solidFill>
            <a:srgbClr val="173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44368" y="251460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considered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514600"/>
            <a:ext cx="5440680" cy="365760"/>
          </a:xfrm>
          <a:prstGeom prst="rect">
            <a:avLst/>
          </a:prstGeom>
          <a:solidFill>
            <a:srgbClr val="173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27648" y="2514600"/>
            <a:ext cx="5221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choice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2286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" y="2880360"/>
            <a:ext cx="2066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2834640" y="2880360"/>
            <a:ext cx="3383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44368" y="2880360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6217920" y="2880360"/>
            <a:ext cx="5440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27648" y="2880360"/>
            <a:ext cx="5221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imbalanced (26.5%/73.5%), so a model predicting "no churn" for everyone scores about 73% accuracy while catching 0 at-risk customers. Recall and ROC-AUC weighted higher instead.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548640" y="3538728"/>
            <a:ext cx="2286000" cy="658368"/>
          </a:xfrm>
          <a:prstGeom prst="rect">
            <a:avLst/>
          </a:prstGeom>
          <a:solidFill>
            <a:srgbClr val="EDF1F4"/>
          </a:solidFill>
          <a:ln w="635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" y="3538728"/>
            <a:ext cx="2066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class imbalance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2834640" y="3538728"/>
            <a:ext cx="3383280" cy="658368"/>
          </a:xfrm>
          <a:prstGeom prst="rect">
            <a:avLst/>
          </a:prstGeom>
          <a:solidFill>
            <a:srgbClr val="EDF1F4"/>
          </a:solidFill>
          <a:ln w="635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944368" y="3538728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/ oversampling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6217920" y="3538728"/>
            <a:ext cx="5440680" cy="658368"/>
          </a:xfrm>
          <a:prstGeom prst="rect">
            <a:avLst/>
          </a:prstGeom>
          <a:solidFill>
            <a:srgbClr val="EDF1F4"/>
          </a:solidFill>
          <a:ln w="635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27648" y="3538728"/>
            <a:ext cx="5221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class weighting (scale_pos_weight) instead. It avoids generating synthetic data and keeps the pipeline simpler to explain and reproduce. SMOTE is noted as future work.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548640" y="4197096"/>
            <a:ext cx="2286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368" y="4197096"/>
            <a:ext cx="2066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2834640" y="4197096"/>
            <a:ext cx="3383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944368" y="4197096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encoding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6217920" y="4197096"/>
            <a:ext cx="5440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27648" y="4197096"/>
            <a:ext cx="5221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chosen. Categories have low cardinality, and one-hot avoids any risk of target leakage through encoded means.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548640" y="4855464"/>
            <a:ext cx="2286000" cy="658368"/>
          </a:xfrm>
          <a:prstGeom prst="rect">
            <a:avLst/>
          </a:prstGeom>
          <a:solidFill>
            <a:srgbClr val="EDF1F4"/>
          </a:solidFill>
          <a:ln w="635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" y="4855464"/>
            <a:ext cx="2066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families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2834640" y="4855464"/>
            <a:ext cx="3383280" cy="658368"/>
          </a:xfrm>
          <a:prstGeom prst="rect">
            <a:avLst/>
          </a:prstGeom>
          <a:solidFill>
            <a:srgbClr val="EDF1F4"/>
          </a:solidFill>
          <a:ln w="635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944368" y="4855464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/ neural nets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6217920" y="4855464"/>
            <a:ext cx="5440680" cy="658368"/>
          </a:xfrm>
          <a:prstGeom prst="rect">
            <a:avLst/>
          </a:prstGeom>
          <a:solidFill>
            <a:srgbClr val="EDF1F4"/>
          </a:solidFill>
          <a:ln w="635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27648" y="4855464"/>
            <a:ext cx="5221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Random Forest, and XGBoost chosen. 7,043 rows is too small to benefit from deep learning, and tree/linear models stay interpretable to a business audience.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548640" y="5513832"/>
            <a:ext cx="2286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8368" y="5513832"/>
            <a:ext cx="2066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2834640" y="5513832"/>
            <a:ext cx="3383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944368" y="5513832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split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6217920" y="5513832"/>
            <a:ext cx="5440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327648" y="5513832"/>
            <a:ext cx="5221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stratified 80/20 split used. This is a cross-sectional snapshot, not a time series, so there's no future leakage risk to guard against.</a:t>
            </a:r>
            <a:endParaRPr lang="en-US" sz="970" dirty="0"/>
          </a:p>
        </p:txBody>
      </p:sp>
      <p:sp>
        <p:nvSpPr>
          <p:cNvPr id="42" name="Text 4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 Behind The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109960" cy="786384"/>
          </a:xfrm>
          <a:prstGeom prst="roundRect">
            <a:avLst>
              <a:gd name="adj" fmla="val 5814"/>
            </a:avLst>
          </a:prstGeom>
          <a:solidFill>
            <a:srgbClr val="ED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82496"/>
            <a:ext cx="438912" cy="438912"/>
          </a:xfrm>
          <a:prstGeom prst="ellipse">
            <a:avLst/>
          </a:prstGeom>
          <a:solidFill>
            <a:srgbClr val="5B8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682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48" dirty="0"/>
          </a:p>
        </p:txBody>
      </p:sp>
      <p:sp>
        <p:nvSpPr>
          <p:cNvPr id="7" name="Text 5"/>
          <p:cNvSpPr/>
          <p:nvPr/>
        </p:nvSpPr>
        <p:spPr>
          <a:xfrm>
            <a:off x="1417320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prepare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6052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95160" y="1536192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TotalCharges (text → numeric), dropped customerID (identifier, not a feature), bucketed tenure for charting.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1110996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635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" y="2578608"/>
            <a:ext cx="438912" cy="438912"/>
          </a:xfrm>
          <a:prstGeom prst="ellipse">
            <a:avLst/>
          </a:prstGeom>
          <a:solidFill>
            <a:srgbClr val="5B8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5786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48" dirty="0"/>
          </a:p>
        </p:txBody>
      </p:sp>
      <p:sp>
        <p:nvSpPr>
          <p:cNvPr id="13" name="Text 11"/>
          <p:cNvSpPr/>
          <p:nvPr/>
        </p:nvSpPr>
        <p:spPr>
          <a:xfrm>
            <a:off x="1417320" y="24505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before anything else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60520" y="24505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95160" y="243230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train/test split done first. Fitting any scaler or encoder before splitting would leak test-set information into training.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548640" y="3300984"/>
            <a:ext cx="11109960" cy="786384"/>
          </a:xfrm>
          <a:prstGeom prst="roundRect">
            <a:avLst>
              <a:gd name="adj" fmla="val 5814"/>
            </a:avLst>
          </a:prstGeom>
          <a:solidFill>
            <a:srgbClr val="ED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3474720"/>
            <a:ext cx="438912" cy="438912"/>
          </a:xfrm>
          <a:prstGeom prst="ellipse">
            <a:avLst/>
          </a:prstGeom>
          <a:solidFill>
            <a:srgbClr val="5B8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474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48" dirty="0"/>
          </a:p>
        </p:txBody>
      </p:sp>
      <p:sp>
        <p:nvSpPr>
          <p:cNvPr id="19" name="Text 17"/>
          <p:cNvSpPr/>
          <p:nvPr/>
        </p:nvSpPr>
        <p:spPr>
          <a:xfrm>
            <a:off x="1417320" y="334670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 in a pipeline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60520" y="334670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 + Pipeline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95160" y="332841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on numeric columns (tenure, charges), OneHotEncoder(handle_unknown="ignore") on categoricals. Bundled so the exact fitted transform applies consistently to train, test, and any future customer.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548640" y="4197096"/>
            <a:ext cx="1110996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635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7240" y="4370832"/>
            <a:ext cx="438912" cy="438912"/>
          </a:xfrm>
          <a:prstGeom prst="ellipse">
            <a:avLst/>
          </a:prstGeom>
          <a:solidFill>
            <a:srgbClr val="5B8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48" dirty="0"/>
          </a:p>
        </p:txBody>
      </p:sp>
      <p:sp>
        <p:nvSpPr>
          <p:cNvPr id="25" name="Text 23"/>
          <p:cNvSpPr/>
          <p:nvPr/>
        </p:nvSpPr>
        <p:spPr>
          <a:xfrm>
            <a:off x="1417320" y="424281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3 models + a baseline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60520" y="42428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LogisticRegression, RandomForestClassifier, XGBClassifier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95160" y="4224528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against a naive "no one churns" baseline first. The non-negotiable sanity check before trusting any model.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548640" y="5093208"/>
            <a:ext cx="11109960" cy="786384"/>
          </a:xfrm>
          <a:prstGeom prst="roundRect">
            <a:avLst>
              <a:gd name="adj" fmla="val 5814"/>
            </a:avLst>
          </a:prstGeom>
          <a:solidFill>
            <a:srgbClr val="ED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77240" y="5266944"/>
            <a:ext cx="438912" cy="438912"/>
          </a:xfrm>
          <a:prstGeom prst="ellipse">
            <a:avLst/>
          </a:prstGeom>
          <a:solidFill>
            <a:srgbClr val="5B8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7240" y="5266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48" dirty="0"/>
          </a:p>
        </p:txBody>
      </p:sp>
      <p:sp>
        <p:nvSpPr>
          <p:cNvPr id="31" name="Text 29"/>
          <p:cNvSpPr/>
          <p:nvPr/>
        </p:nvSpPr>
        <p:spPr>
          <a:xfrm>
            <a:off x="1417320" y="51389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on 5 metrics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60520" y="51389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sklearn.metrics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95160" y="512064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ROC-AUC. Accuracy alone is misleading on imbalanced classes, so all five are reported and ROC-AUC/Recall are weighted most heavily.</a:t>
            </a:r>
            <a:endParaRPr lang="en-US" sz="97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Prediction Beat Segmentation Alone?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676656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463040"/>
            <a:ext cx="4206240" cy="4434840"/>
          </a:xfrm>
          <a:prstGeom prst="roundRect">
            <a:avLst>
              <a:gd name="adj" fmla="val 1739"/>
            </a:avLst>
          </a:prstGeom>
          <a:solidFill>
            <a:srgbClr val="ED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68096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check first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680960" y="20574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"no one churns" model gets 73.5% accuracy but 0% recall. It would miss every at-risk customer, which is why accuracy alone can't be trusted here.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680960" y="3017520"/>
            <a:ext cx="3520440" cy="0"/>
          </a:xfrm>
          <a:prstGeom prst="line">
            <a:avLst/>
          </a:prstGeom>
          <a:noFill/>
          <a:ln w="12700">
            <a:solidFill>
              <a:srgbClr val="C7D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680960" y="3200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Winner: Logistic Regression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80960" y="361188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0.842</a:t>
            </a: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tied with Random Forest, but simpler and more interpretable for a business audience.
</a:t>
            </a:r>
            <a:r>
              <a:rPr lang="en-US" sz="11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catches more true churners (75.4% recall) at the cost of more false alarms, worth considering if the business prefers to over-flag rather than under-flag risk.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Actually Driving The Predictions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694944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463040"/>
            <a:ext cx="4023360" cy="4434840"/>
          </a:xfrm>
          <a:prstGeom prst="roundRect">
            <a:avLst>
              <a:gd name="adj" fmla="val 1818"/>
            </a:avLst>
          </a:prstGeom>
          <a:solidFill>
            <a:srgbClr val="E9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863840" y="1691640"/>
            <a:ext cx="457200" cy="457200"/>
          </a:xfrm>
          <a:prstGeom prst="ellipse">
            <a:avLst/>
          </a:prstGeom>
          <a:solidFill>
            <a:srgbClr val="1F8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8638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35240" y="22860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agrees with the segmentation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863840" y="30632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drivers (tenure, contract type, internet service, monthly charges) are exactly what the manual segmentation surfaced in steps 2-3.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863840" y="42519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agreement is what makes the model trustworthy to act on. It isn't picking up on some disconnected, unexplainable pattern.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Prioritized, Specific Shortlist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109960" cy="1280160"/>
          </a:xfrm>
          <a:prstGeom prst="roundRect">
            <a:avLst>
              <a:gd name="adj" fmla="val 5000"/>
            </a:avLst>
          </a:prstGeom>
          <a:solidFill>
            <a:srgbClr val="ED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10512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1691640" y="166420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the compounding-risk segment first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91640" y="2057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+ fiber optic + no tech support customers churn at 57.5% (1,796 customers). Offer a discounted tech-support add-on or a contract-length incentive, addressing what's actually controllable.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11109960" cy="1280160"/>
          </a:xfrm>
          <a:prstGeom prst="roundRect">
            <a:avLst>
              <a:gd name="adj" fmla="val 5000"/>
            </a:avLst>
          </a:prstGeom>
          <a:solidFill>
            <a:srgbClr val="ED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22960" y="3227832"/>
            <a:ext cx="640080" cy="640080"/>
          </a:xfrm>
          <a:prstGeom prst="ellipse">
            <a:avLst/>
          </a:prstGeom>
          <a:solidFill>
            <a:srgbClr val="5B8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3227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1691640" y="308152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 the first 6 months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91640" y="347472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peaks at 52.9% in a customer's first 6 months. An early-tenure check-in or onboarding touchpoint, timed before month 3, targets the window where the most customers are lost.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11109960" cy="1280160"/>
          </a:xfrm>
          <a:prstGeom prst="roundRect">
            <a:avLst>
              <a:gd name="adj" fmla="val 5000"/>
            </a:avLst>
          </a:prstGeom>
          <a:solidFill>
            <a:srgbClr val="ED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4645152"/>
            <a:ext cx="640080" cy="640080"/>
          </a:xfrm>
          <a:prstGeom prst="ellipse">
            <a:avLst/>
          </a:prstGeom>
          <a:solidFill>
            <a:srgbClr val="173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645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1691640" y="449884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 retention spend by customer value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91640" y="48920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represent a disproportionate 30.5% of revenue, and top-quartile spenders churn above the average rate. Retention spend should follow value, not be spread evenly.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806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honestly: this is an exploratory analysis on public data, not a live experiment, so there's no measured before/after. But it turns "customers are leaving" into a specific, evidence-based shortlist.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VS FUTURE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If This Ships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ED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502920"/>
          </a:xfrm>
          <a:prstGeom prst="rect">
            <a:avLst/>
          </a:prstGeom>
          <a:solidFill>
            <a:srgbClr val="5B6B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240280"/>
            <a:ext cx="292608" cy="292608"/>
          </a:xfrm>
          <a:prstGeom prst="ellipse">
            <a:avLst/>
          </a:prstGeom>
          <a:solidFill>
            <a:srgbClr val="5B6B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32" dirty="0"/>
          </a:p>
        </p:txBody>
      </p:sp>
      <p:sp>
        <p:nvSpPr>
          <p:cNvPr id="9" name="Text 7"/>
          <p:cNvSpPr/>
          <p:nvPr/>
        </p:nvSpPr>
        <p:spPr>
          <a:xfrm>
            <a:off x="1280160" y="21031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measured only in hindsight, via monthly reporting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017520"/>
            <a:ext cx="292608" cy="292608"/>
          </a:xfrm>
          <a:prstGeom prst="ellipse">
            <a:avLst/>
          </a:prstGeom>
          <a:solidFill>
            <a:srgbClr val="5B6B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32" dirty="0"/>
          </a:p>
        </p:txBody>
      </p:sp>
      <p:sp>
        <p:nvSpPr>
          <p:cNvPr id="12" name="Text 10"/>
          <p:cNvSpPr/>
          <p:nvPr/>
        </p:nvSpPr>
        <p:spPr>
          <a:xfrm>
            <a:off x="1280160" y="28803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which live customers are at risk today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794760"/>
            <a:ext cx="292608" cy="292608"/>
          </a:xfrm>
          <a:prstGeom prst="ellipse">
            <a:avLst/>
          </a:prstGeom>
          <a:solidFill>
            <a:srgbClr val="5B6B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32" dirty="0"/>
          </a:p>
        </p:txBody>
      </p:sp>
      <p:sp>
        <p:nvSpPr>
          <p:cNvPr id="15" name="Text 13"/>
          <p:cNvSpPr/>
          <p:nvPr/>
        </p:nvSpPr>
        <p:spPr>
          <a:xfrm>
            <a:off x="1280160" y="36576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offers (if any) applied reactively or uniformly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572000"/>
            <a:ext cx="292608" cy="292608"/>
          </a:xfrm>
          <a:prstGeom prst="ellipse">
            <a:avLst/>
          </a:prstGeom>
          <a:solidFill>
            <a:srgbClr val="5B6B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572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32" dirty="0"/>
          </a:p>
        </p:txBody>
      </p:sp>
      <p:sp>
        <p:nvSpPr>
          <p:cNvPr id="18" name="Text 16"/>
          <p:cNvSpPr/>
          <p:nvPr/>
        </p:nvSpPr>
        <p:spPr>
          <a:xfrm>
            <a:off x="1280160" y="443484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 of churn is not quantified by segment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155448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ED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63640" y="1554480"/>
            <a:ext cx="5394960" cy="502920"/>
          </a:xfrm>
          <a:prstGeom prst="rect">
            <a:avLst/>
          </a:prstGeom>
          <a:solidFill>
            <a:srgbClr val="1F8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63640" y="15544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FUTURE STATE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37960" y="2240280"/>
            <a:ext cx="292608" cy="292608"/>
          </a:xfrm>
          <a:prstGeom prst="ellipse">
            <a:avLst/>
          </a:prstGeom>
          <a:solidFill>
            <a:srgbClr val="1F8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37960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32" dirty="0"/>
          </a:p>
        </p:txBody>
      </p:sp>
      <p:sp>
        <p:nvSpPr>
          <p:cNvPr id="24" name="Text 22"/>
          <p:cNvSpPr/>
          <p:nvPr/>
        </p:nvSpPr>
        <p:spPr>
          <a:xfrm>
            <a:off x="6995160" y="21031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active customer gets a predicted churn-risk score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37960" y="3017520"/>
            <a:ext cx="292608" cy="292608"/>
          </a:xfrm>
          <a:prstGeom prst="ellipse">
            <a:avLst/>
          </a:prstGeom>
          <a:solidFill>
            <a:srgbClr val="1F8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3796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32" dirty="0"/>
          </a:p>
        </p:txBody>
      </p:sp>
      <p:sp>
        <p:nvSpPr>
          <p:cNvPr id="27" name="Text 25"/>
          <p:cNvSpPr/>
          <p:nvPr/>
        </p:nvSpPr>
        <p:spPr>
          <a:xfrm>
            <a:off x="6995160" y="28803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team works a risk-ranked shortlist, not a flat list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37960" y="3794760"/>
            <a:ext cx="292608" cy="292608"/>
          </a:xfrm>
          <a:prstGeom prst="ellipse">
            <a:avLst/>
          </a:prstGeom>
          <a:solidFill>
            <a:srgbClr val="1F8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37960" y="3794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32" dirty="0"/>
          </a:p>
        </p:txBody>
      </p:sp>
      <p:sp>
        <p:nvSpPr>
          <p:cNvPr id="30" name="Text 28"/>
          <p:cNvSpPr/>
          <p:nvPr/>
        </p:nvSpPr>
        <p:spPr>
          <a:xfrm>
            <a:off x="6995160" y="36576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targeted to the compounding-risk segment first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37960" y="4572000"/>
            <a:ext cx="292608" cy="292608"/>
          </a:xfrm>
          <a:prstGeom prst="ellipse">
            <a:avLst/>
          </a:prstGeom>
          <a:solidFill>
            <a:srgbClr val="1F8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37960" y="4572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32" dirty="0"/>
          </a:p>
        </p:txBody>
      </p:sp>
      <p:sp>
        <p:nvSpPr>
          <p:cNvPr id="33" name="Text 31"/>
          <p:cNvSpPr/>
          <p:nvPr/>
        </p:nvSpPr>
        <p:spPr>
          <a:xfrm>
            <a:off x="6995160" y="443484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spend weighted toward high-value at-risk accounts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80644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</a:rPr>
              <a:t>→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59480" cy="1691640"/>
          </a:xfrm>
          <a:prstGeom prst="roundRect">
            <a:avLst>
              <a:gd name="adj" fmla="val 3784"/>
            </a:avLst>
          </a:prstGeom>
          <a:solidFill>
            <a:srgbClr val="ED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411480" cy="411480"/>
          </a:xfrm>
          <a:prstGeom prst="ellipse">
            <a:avLst/>
          </a:prstGeom>
          <a:solidFill>
            <a:srgbClr val="5B8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7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the scoring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active customer base weekly or monthly, not just the historical dataset.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73880" y="1600200"/>
            <a:ext cx="3459480" cy="1691640"/>
          </a:xfrm>
          <a:prstGeom prst="roundRect">
            <a:avLst>
              <a:gd name="adj" fmla="val 3784"/>
            </a:avLst>
          </a:prstGeom>
          <a:solidFill>
            <a:srgbClr val="ED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02480" y="1828800"/>
            <a:ext cx="411480" cy="411480"/>
          </a:xfrm>
          <a:prstGeom prst="ellipse">
            <a:avLst/>
          </a:prstGeom>
          <a:solidFill>
            <a:srgbClr val="5B8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0248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4602480" y="237744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live dashboard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02480" y="278892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surfacing risk-ranked accounts, the natural pairing to this notebook.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99120" y="1600200"/>
            <a:ext cx="3459480" cy="1691640"/>
          </a:xfrm>
          <a:prstGeom prst="roundRect">
            <a:avLst>
              <a:gd name="adj" fmla="val 3784"/>
            </a:avLst>
          </a:prstGeom>
          <a:solidFill>
            <a:srgbClr val="ED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27720" y="1828800"/>
            <a:ext cx="411480" cy="411480"/>
          </a:xfrm>
          <a:prstGeom prst="ellipse">
            <a:avLst/>
          </a:prstGeom>
          <a:solidFill>
            <a:srgbClr val="5B8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2772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70" dirty="0"/>
          </a:p>
        </p:txBody>
      </p:sp>
      <p:sp>
        <p:nvSpPr>
          <p:cNvPr id="17" name="Text 15"/>
          <p:cNvSpPr/>
          <p:nvPr/>
        </p:nvSpPr>
        <p:spPr>
          <a:xfrm>
            <a:off x="8427720" y="237744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A/B test real retention offers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27720" y="278892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expected impact to measured impact by testing offers against the flagged segment.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3459480" cy="1691640"/>
          </a:xfrm>
          <a:prstGeom prst="roundRect">
            <a:avLst>
              <a:gd name="adj" fmla="val 3784"/>
            </a:avLst>
          </a:prstGeom>
          <a:solidFill>
            <a:srgbClr val="ED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7240" y="3840480"/>
            <a:ext cx="411480" cy="411480"/>
          </a:xfrm>
          <a:prstGeom prst="ellipse">
            <a:avLst/>
          </a:prstGeom>
          <a:solidFill>
            <a:srgbClr val="5B8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70" dirty="0"/>
          </a:p>
        </p:txBody>
      </p:sp>
      <p:sp>
        <p:nvSpPr>
          <p:cNvPr id="22" name="Text 20"/>
          <p:cNvSpPr/>
          <p:nvPr/>
        </p:nvSpPr>
        <p:spPr>
          <a:xfrm>
            <a:off x="777240" y="438912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survival analysis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80060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Time-to-churn modeling for more precise timing of interventions, not just a single risk score.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73880" y="3611880"/>
            <a:ext cx="3459480" cy="1691640"/>
          </a:xfrm>
          <a:prstGeom prst="roundRect">
            <a:avLst>
              <a:gd name="adj" fmla="val 3784"/>
            </a:avLst>
          </a:prstGeom>
          <a:solidFill>
            <a:srgbClr val="ED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02480" y="3840480"/>
            <a:ext cx="411480" cy="411480"/>
          </a:xfrm>
          <a:prstGeom prst="ellipse">
            <a:avLst/>
          </a:prstGeom>
          <a:solidFill>
            <a:srgbClr val="5B8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0248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70" dirty="0"/>
          </a:p>
        </p:txBody>
      </p:sp>
      <p:sp>
        <p:nvSpPr>
          <p:cNvPr id="27" name="Text 25"/>
          <p:cNvSpPr/>
          <p:nvPr/>
        </p:nvSpPr>
        <p:spPr>
          <a:xfrm>
            <a:off x="4602480" y="438912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 imbalance further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02480" y="480060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SMOTE and threshold tuning to push recall higher without sacrificing precision.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99120" y="3611880"/>
            <a:ext cx="3459480" cy="1691640"/>
          </a:xfrm>
          <a:prstGeom prst="roundRect">
            <a:avLst>
              <a:gd name="adj" fmla="val 3784"/>
            </a:avLst>
          </a:prstGeom>
          <a:solidFill>
            <a:srgbClr val="ED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427720" y="3840480"/>
            <a:ext cx="411480" cy="411480"/>
          </a:xfrm>
          <a:prstGeom prst="ellipse">
            <a:avLst/>
          </a:prstGeom>
          <a:solidFill>
            <a:srgbClr val="5B8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42772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70" dirty="0"/>
          </a:p>
        </p:txBody>
      </p:sp>
      <p:sp>
        <p:nvSpPr>
          <p:cNvPr id="32" name="Text 30"/>
          <p:cNvSpPr/>
          <p:nvPr/>
        </p:nvSpPr>
        <p:spPr>
          <a:xfrm>
            <a:off x="8427720" y="438912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behavioral signals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27720" y="480060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support-ticket and service-interaction logs if the business has them, richer than billing/account data alone.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Toolkit This Case Study Puts Into Practice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ED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11880" cy="5486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432304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23042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054096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2926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definition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675888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1560" y="354787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analysis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297680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1560" y="416966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Stakeholder-ready recommendations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919472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51560" y="479145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vs future state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97680" y="16002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ED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97680" y="1600200"/>
            <a:ext cx="3611880" cy="548640"/>
          </a:xfrm>
          <a:prstGeom prst="rect">
            <a:avLst/>
          </a:prstGeom>
          <a:solidFill>
            <a:srgbClr val="5B8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97680" y="16002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0" y="2432304"/>
            <a:ext cx="91440" cy="91440"/>
          </a:xfrm>
          <a:prstGeom prst="ellipse">
            <a:avLst/>
          </a:prstGeom>
          <a:solidFill>
            <a:srgbClr val="5B8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23042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auditing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0" y="3054096"/>
            <a:ext cx="91440" cy="91440"/>
          </a:xfrm>
          <a:prstGeom prst="ellipse">
            <a:avLst/>
          </a:prstGeom>
          <a:solidFill>
            <a:srgbClr val="5B8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2926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analysis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0" y="3675888"/>
            <a:ext cx="91440" cy="91440"/>
          </a:xfrm>
          <a:prstGeom prst="ellipse">
            <a:avLst/>
          </a:prstGeom>
          <a:solidFill>
            <a:srgbClr val="5B8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354787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/ compounding-risk analysis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0" y="4297680"/>
            <a:ext cx="91440" cy="91440"/>
          </a:xfrm>
          <a:prstGeom prst="ellipse">
            <a:avLst/>
          </a:prstGeom>
          <a:solidFill>
            <a:srgbClr val="5B8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416966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 quantification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46720" y="16002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ED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046720" y="1600200"/>
            <a:ext cx="3611880" cy="548640"/>
          </a:xfrm>
          <a:prstGeom prst="rect">
            <a:avLst/>
          </a:prstGeom>
          <a:solidFill>
            <a:srgbClr val="173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046720" y="16002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321040" y="2432304"/>
            <a:ext cx="91440" cy="91440"/>
          </a:xfrm>
          <a:prstGeom prst="ellipse">
            <a:avLst/>
          </a:prstGeom>
          <a:solidFill>
            <a:srgbClr val="173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549640" y="23042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pipeline design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321040" y="3054096"/>
            <a:ext cx="91440" cy="91440"/>
          </a:xfrm>
          <a:prstGeom prst="ellipse">
            <a:avLst/>
          </a:prstGeom>
          <a:solidFill>
            <a:srgbClr val="173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549640" y="2926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Baseline-first model validation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321040" y="3675888"/>
            <a:ext cx="91440" cy="91440"/>
          </a:xfrm>
          <a:prstGeom prst="ellipse">
            <a:avLst/>
          </a:prstGeom>
          <a:solidFill>
            <a:srgbClr val="173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549640" y="354787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Multi-metric model evaluation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321040" y="4297680"/>
            <a:ext cx="91440" cy="91440"/>
          </a:xfrm>
          <a:prstGeom prst="ellipse">
            <a:avLst/>
          </a:prstGeom>
          <a:solidFill>
            <a:srgbClr val="173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549640" y="416966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interpretation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3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1F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011680" y="4754880"/>
            <a:ext cx="4114800" cy="4114800"/>
          </a:xfrm>
          <a:prstGeom prst="ellipse">
            <a:avLst/>
          </a:prstGeom>
          <a:solidFill>
            <a:srgbClr val="1F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THOUGHT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isn't solved by finding a bigger number.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solved by finding which combination of factors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actually explains it, and acting on that.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F4C6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374904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1F4C6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0" y="3749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374904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F4C6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80960" y="374904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F4C6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80960" y="3749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846320"/>
            <a:ext cx="10424160" cy="0"/>
          </a:xfrm>
          <a:prstGeom prst="line">
            <a:avLst/>
          </a:prstGeom>
          <a:noFill/>
          <a:ln w="12700">
            <a:solidFill>
              <a:srgbClr val="3A6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 Babu  |  Data &amp; Business Analyst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5486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Data Analyst, Business Analyst &amp; Analytics opportunities.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github.com/Mary-Babu/customer-churn-retention-analysis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2163</Words>
  <Application>Microsoft Office PowerPoint</Application>
  <PresentationFormat>Widescreen</PresentationFormat>
  <Paragraphs>333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Mary Babu</dc:creator>
  <cp:lastModifiedBy>Mary Babu</cp:lastModifiedBy>
  <cp:revision>1</cp:revision>
  <dcterms:created xsi:type="dcterms:W3CDTF">2026-08-11T20:37:18Z</dcterms:created>
  <dcterms:modified xsi:type="dcterms:W3CDTF">2026-08-11T20:59:29Z</dcterms:modified>
</cp:coreProperties>
</file>